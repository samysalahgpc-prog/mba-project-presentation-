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share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East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9.4</c:v>
                </c:pt>
                <c:pt idx="1">
                  <c:v>8.5</c:v>
                </c:pt>
                <c:pt idx="2">
                  <c:v>5.6</c:v>
                </c:pt>
                <c:pt idx="3">
                  <c:v>4.8</c:v>
                </c:pt>
                <c:pt idx="4">
                  <c:v>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1626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8C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  <c:min val="0.0"/>
        </c:scaling>
        <c:delete val="0"/>
        <c:axPos val="l"/>
        <c:majorGridlines>
          <c:spPr>
            <a:ln w="9525">
              <a:solidFill>
                <a:srgbClr val="DDE6E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5E6E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</c:v>
                </c:pt>
              </c:strCache>
            </c:strRef>
          </c:tx>
          <c:spPr>
            <a:solidFill>
              <a:srgbClr val="E4572E"/>
            </a:solidFill>
          </c:spPr>
          <c:invertIfNegative val="0"/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Baseline under-forecast</c:v>
                </c:pt>
                <c:pt idx="1">
                  <c:v>Baseline on or above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</c:v>
                </c:pt>
                <c:pt idx="1">
                  <c:v>0.29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1626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8C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 val="0"/>
        <c:axPos val="l"/>
        <c:majorGridlines>
          <c:spPr>
            <a:ln w="9525">
              <a:solidFill>
                <a:srgbClr val="DDE6E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5E6E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Lost packs</c:v>
                </c:pt>
              </c:strCache>
            </c:strRef>
          </c:tx>
          <c:dPt>
            <c:idx val="0"/>
            <c:spPr>
              <a:solidFill>
                <a:srgbClr val="E4572E"/>
              </a:solidFill>
            </c:spPr>
          </c:dPt>
          <c:dPt>
            <c:idx val="1"/>
            <c:spPr>
              <a:solidFill>
                <a:srgbClr val="DDE6E5"/>
              </a:solidFill>
            </c:spPr>
          </c:dPt>
          <c:cat>
            <c:strRef>
              <c:f>Sheet1!$A$2:$A$3</c:f>
              <c:strCache>
                <c:ptCount val="2"/>
                <c:pt idx="0">
                  <c:v>In under-forecast months</c:v>
                </c:pt>
                <c:pt idx="1">
                  <c:v>All other months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97.6</c:v>
                </c:pt>
                <c:pt idx="1">
                  <c:v>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5E6E7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promotion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Forecast error (WAPE)</c:v>
                </c:pt>
                <c:pt idx="1">
                  <c:v>Stockout rate</c:v>
                </c:pt>
                <c:pt idx="2">
                  <c:v>Signed bias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5.0</c:v>
                </c:pt>
                <c:pt idx="2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Planned promotion</c:v>
                </c:pt>
              </c:strCache>
            </c:strRef>
          </c:tx>
          <c:spPr>
            <a:solidFill>
              <a:srgbClr val="E4572E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Forecast error (WAPE)</c:v>
                </c:pt>
                <c:pt idx="1">
                  <c:v>Stockout rate</c:v>
                </c:pt>
                <c:pt idx="2">
                  <c:v>Signed bias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17.3</c:v>
                </c:pt>
                <c:pt idx="1">
                  <c:v>12.8</c:v>
                </c:pt>
                <c:pt idx="2">
                  <c:v>-14.0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1626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8C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-20.0"/>
        </c:scaling>
        <c:delete val="0"/>
        <c:axPos val="l"/>
        <c:majorGridlines>
          <c:spPr>
            <a:ln w="9525">
              <a:solidFill>
                <a:srgbClr val="DDE6E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solidFill>
            <a:srgbClr val="5E6E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3-month average</c:v>
                </c:pt>
              </c:strCache>
            </c:strRef>
          </c:tx>
          <c:spPr>
            <a:solidFill>
              <a:srgbClr val="E4572E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15.2</c:v>
                </c:pt>
                <c:pt idx="2">
                  <c:v>15.3</c:v>
                </c:pt>
                <c:pt idx="3">
                  <c:v>15.2</c:v>
                </c:pt>
                <c:pt idx="4">
                  <c:v>13.8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Regression</c:v>
                </c:pt>
              </c:strCache>
            </c:strRef>
          </c:tx>
          <c:spPr>
            <a:solidFill>
              <a:srgbClr val="1B998B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8.3</c:v>
                </c:pt>
                <c:pt idx="1">
                  <c:v>9.1</c:v>
                </c:pt>
                <c:pt idx="2">
                  <c:v>9.7</c:v>
                </c:pt>
                <c:pt idx="3">
                  <c:v>10.0</c:v>
                </c:pt>
                <c:pt idx="4">
                  <c:v>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1626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8C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0"/>
          <c:min val="0.0"/>
        </c:scaling>
        <c:delete val="0"/>
        <c:axPos val="l"/>
        <c:majorGridlines>
          <c:spPr>
            <a:ln w="9525">
              <a:solidFill>
                <a:srgbClr val="DDE6E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solidFill>
            <a:srgbClr val="5E6E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Lost revenue</c:v>
                </c:pt>
              </c:strCache>
            </c:strRef>
          </c:tx>
          <c:spPr>
            <a:ln w="38100">
              <a:solidFill>
                <a:srgbClr val="E4572E"/>
              </a:solidFill>
            </a:ln>
          </c:spPr>
          <c:marker>
            <c:symbol val="none"/>
          </c:marker>
          <c:xVal>
            <c:numRef>
              <c:f>Sheet1!$A$2:$A$127</c:f>
              <c:numCache>
                <c:formatCode>General</c:formatCode>
                <c:ptCount val="126"/>
                <c:pt idx="0">
                  <c:v>0</c:v>
                </c:pt>
                <c:pt idx="1">
                  <c:v>0.8</c:v>
                </c:pt>
                <c:pt idx="2">
                  <c:v>1.6</c:v>
                </c:pt>
                <c:pt idx="3">
                  <c:v>2.4</c:v>
                </c:pt>
                <c:pt idx="4">
                  <c:v>3.2</c:v>
                </c:pt>
                <c:pt idx="5">
                  <c:v>4.0</c:v>
                </c:pt>
                <c:pt idx="6">
                  <c:v>4.8</c:v>
                </c:pt>
                <c:pt idx="7">
                  <c:v>5.6</c:v>
                </c:pt>
                <c:pt idx="8">
                  <c:v>6.4</c:v>
                </c:pt>
                <c:pt idx="9">
                  <c:v>7.2</c:v>
                </c:pt>
                <c:pt idx="10">
                  <c:v>8.0</c:v>
                </c:pt>
                <c:pt idx="11">
                  <c:v>8.8</c:v>
                </c:pt>
                <c:pt idx="12">
                  <c:v>9.6</c:v>
                </c:pt>
                <c:pt idx="13">
                  <c:v>10.4</c:v>
                </c:pt>
                <c:pt idx="14">
                  <c:v>11.2</c:v>
                </c:pt>
                <c:pt idx="15">
                  <c:v>12.0</c:v>
                </c:pt>
                <c:pt idx="16">
                  <c:v>12.8</c:v>
                </c:pt>
                <c:pt idx="17">
                  <c:v>13.6</c:v>
                </c:pt>
                <c:pt idx="18">
                  <c:v>14.4</c:v>
                </c:pt>
                <c:pt idx="19">
                  <c:v>15.2</c:v>
                </c:pt>
                <c:pt idx="20">
                  <c:v>16.0</c:v>
                </c:pt>
                <c:pt idx="21">
                  <c:v>16.8</c:v>
                </c:pt>
                <c:pt idx="22">
                  <c:v>17.6</c:v>
                </c:pt>
                <c:pt idx="23">
                  <c:v>18.4</c:v>
                </c:pt>
                <c:pt idx="24">
                  <c:v>19.2</c:v>
                </c:pt>
                <c:pt idx="25">
                  <c:v>20.0</c:v>
                </c:pt>
                <c:pt idx="26">
                  <c:v>20.8</c:v>
                </c:pt>
                <c:pt idx="27">
                  <c:v>21.6</c:v>
                </c:pt>
                <c:pt idx="28">
                  <c:v>22.4</c:v>
                </c:pt>
                <c:pt idx="29">
                  <c:v>23.2</c:v>
                </c:pt>
                <c:pt idx="30">
                  <c:v>24.0</c:v>
                </c:pt>
                <c:pt idx="31">
                  <c:v>24.8</c:v>
                </c:pt>
                <c:pt idx="32">
                  <c:v>25.6</c:v>
                </c:pt>
                <c:pt idx="33">
                  <c:v>26.4</c:v>
                </c:pt>
                <c:pt idx="34">
                  <c:v>27.2</c:v>
                </c:pt>
                <c:pt idx="35">
                  <c:v>28.0</c:v>
                </c:pt>
                <c:pt idx="36">
                  <c:v>28.8</c:v>
                </c:pt>
                <c:pt idx="37">
                  <c:v>29.6</c:v>
                </c:pt>
                <c:pt idx="38">
                  <c:v>30.4</c:v>
                </c:pt>
                <c:pt idx="39">
                  <c:v>31.2</c:v>
                </c:pt>
                <c:pt idx="40">
                  <c:v>32.0</c:v>
                </c:pt>
                <c:pt idx="41">
                  <c:v>32.8</c:v>
                </c:pt>
                <c:pt idx="42">
                  <c:v>33.6</c:v>
                </c:pt>
                <c:pt idx="43">
                  <c:v>34.4</c:v>
                </c:pt>
                <c:pt idx="44">
                  <c:v>35.2</c:v>
                </c:pt>
                <c:pt idx="45">
                  <c:v>36.0</c:v>
                </c:pt>
                <c:pt idx="46">
                  <c:v>36.8</c:v>
                </c:pt>
                <c:pt idx="47">
                  <c:v>37.6</c:v>
                </c:pt>
                <c:pt idx="48">
                  <c:v>38.4</c:v>
                </c:pt>
                <c:pt idx="49">
                  <c:v>39.2</c:v>
                </c:pt>
                <c:pt idx="50">
                  <c:v>40.0</c:v>
                </c:pt>
                <c:pt idx="51">
                  <c:v>40.8</c:v>
                </c:pt>
                <c:pt idx="52">
                  <c:v>41.6</c:v>
                </c:pt>
                <c:pt idx="53">
                  <c:v>42.4</c:v>
                </c:pt>
                <c:pt idx="54">
                  <c:v>43.2</c:v>
                </c:pt>
                <c:pt idx="55">
                  <c:v>44.0</c:v>
                </c:pt>
                <c:pt idx="56">
                  <c:v>44.8</c:v>
                </c:pt>
                <c:pt idx="57">
                  <c:v>45.6</c:v>
                </c:pt>
                <c:pt idx="58">
                  <c:v>46.4</c:v>
                </c:pt>
                <c:pt idx="59">
                  <c:v>47.2</c:v>
                </c:pt>
                <c:pt idx="60">
                  <c:v>48.0</c:v>
                </c:pt>
                <c:pt idx="61">
                  <c:v>48.8</c:v>
                </c:pt>
                <c:pt idx="62">
                  <c:v>49.6</c:v>
                </c:pt>
                <c:pt idx="63">
                  <c:v>50.4</c:v>
                </c:pt>
                <c:pt idx="64">
                  <c:v>51.2</c:v>
                </c:pt>
                <c:pt idx="65">
                  <c:v>52.0</c:v>
                </c:pt>
                <c:pt idx="66">
                  <c:v>52.8</c:v>
                </c:pt>
                <c:pt idx="67">
                  <c:v>53.6</c:v>
                </c:pt>
                <c:pt idx="68">
                  <c:v>54.4</c:v>
                </c:pt>
                <c:pt idx="69">
                  <c:v>55.2</c:v>
                </c:pt>
                <c:pt idx="70">
                  <c:v>56.0</c:v>
                </c:pt>
                <c:pt idx="71">
                  <c:v>56.8</c:v>
                </c:pt>
                <c:pt idx="72">
                  <c:v>57.6</c:v>
                </c:pt>
                <c:pt idx="73">
                  <c:v>58.4</c:v>
                </c:pt>
                <c:pt idx="74">
                  <c:v>59.2</c:v>
                </c:pt>
                <c:pt idx="75">
                  <c:v>60.0</c:v>
                </c:pt>
                <c:pt idx="76">
                  <c:v>60.8</c:v>
                </c:pt>
                <c:pt idx="77">
                  <c:v>61.6</c:v>
                </c:pt>
                <c:pt idx="78">
                  <c:v>62.4</c:v>
                </c:pt>
                <c:pt idx="79">
                  <c:v>63.2</c:v>
                </c:pt>
                <c:pt idx="80">
                  <c:v>64.0</c:v>
                </c:pt>
                <c:pt idx="81">
                  <c:v>64.8</c:v>
                </c:pt>
                <c:pt idx="82">
                  <c:v>65.6</c:v>
                </c:pt>
                <c:pt idx="83">
                  <c:v>66.4</c:v>
                </c:pt>
                <c:pt idx="84">
                  <c:v>67.2</c:v>
                </c:pt>
                <c:pt idx="85">
                  <c:v>68.0</c:v>
                </c:pt>
                <c:pt idx="86">
                  <c:v>68.8</c:v>
                </c:pt>
                <c:pt idx="87">
                  <c:v>69.6</c:v>
                </c:pt>
                <c:pt idx="88">
                  <c:v>70.4</c:v>
                </c:pt>
                <c:pt idx="89">
                  <c:v>71.2</c:v>
                </c:pt>
                <c:pt idx="90">
                  <c:v>72.0</c:v>
                </c:pt>
                <c:pt idx="91">
                  <c:v>72.8</c:v>
                </c:pt>
                <c:pt idx="92">
                  <c:v>73.6</c:v>
                </c:pt>
                <c:pt idx="93">
                  <c:v>74.4</c:v>
                </c:pt>
                <c:pt idx="94">
                  <c:v>75.2</c:v>
                </c:pt>
                <c:pt idx="95">
                  <c:v>76.0</c:v>
                </c:pt>
                <c:pt idx="96">
                  <c:v>76.8</c:v>
                </c:pt>
                <c:pt idx="97">
                  <c:v>77.6</c:v>
                </c:pt>
                <c:pt idx="98">
                  <c:v>78.4</c:v>
                </c:pt>
                <c:pt idx="99">
                  <c:v>79.2</c:v>
                </c:pt>
                <c:pt idx="100">
                  <c:v>80.0</c:v>
                </c:pt>
                <c:pt idx="101">
                  <c:v>80.8</c:v>
                </c:pt>
                <c:pt idx="102">
                  <c:v>81.6</c:v>
                </c:pt>
                <c:pt idx="103">
                  <c:v>82.4</c:v>
                </c:pt>
                <c:pt idx="104">
                  <c:v>83.2</c:v>
                </c:pt>
                <c:pt idx="105">
                  <c:v>84.0</c:v>
                </c:pt>
                <c:pt idx="106">
                  <c:v>84.8</c:v>
                </c:pt>
                <c:pt idx="107">
                  <c:v>85.6</c:v>
                </c:pt>
                <c:pt idx="108">
                  <c:v>86.4</c:v>
                </c:pt>
                <c:pt idx="109">
                  <c:v>87.2</c:v>
                </c:pt>
                <c:pt idx="110">
                  <c:v>88.0</c:v>
                </c:pt>
                <c:pt idx="111">
                  <c:v>88.8</c:v>
                </c:pt>
                <c:pt idx="112">
                  <c:v>89.6</c:v>
                </c:pt>
                <c:pt idx="113">
                  <c:v>90.4</c:v>
                </c:pt>
                <c:pt idx="114">
                  <c:v>91.2</c:v>
                </c:pt>
                <c:pt idx="115">
                  <c:v>92.0</c:v>
                </c:pt>
                <c:pt idx="116">
                  <c:v>92.8</c:v>
                </c:pt>
                <c:pt idx="117">
                  <c:v>93.6</c:v>
                </c:pt>
                <c:pt idx="118">
                  <c:v>94.4</c:v>
                </c:pt>
                <c:pt idx="119">
                  <c:v>95.2</c:v>
                </c:pt>
                <c:pt idx="120">
                  <c:v>96.0</c:v>
                </c:pt>
                <c:pt idx="121">
                  <c:v>96.8</c:v>
                </c:pt>
                <c:pt idx="122">
                  <c:v>97.6</c:v>
                </c:pt>
                <c:pt idx="123">
                  <c:v>98.4</c:v>
                </c:pt>
                <c:pt idx="124">
                  <c:v>99.2</c:v>
                </c:pt>
                <c:pt idx="125">
                  <c:v>100.0</c:v>
                </c:pt>
              </c:numCache>
            </c:numRef>
          </c:xVal>
          <c:yVal>
            <c:numRef>
              <c:f>Sheet1!$B$2:$B$127</c:f>
              <c:numCache>
                <c:formatCode>General</c:formatCode>
                <c:ptCount val="126"/>
                <c:pt idx="0">
                  <c:v>0</c:v>
                </c:pt>
                <c:pt idx="1">
                  <c:v>6.2</c:v>
                </c:pt>
                <c:pt idx="2">
                  <c:v>10.8</c:v>
                </c:pt>
                <c:pt idx="3">
                  <c:v>15.2</c:v>
                </c:pt>
                <c:pt idx="4">
                  <c:v>19.4</c:v>
                </c:pt>
                <c:pt idx="5">
                  <c:v>23.3</c:v>
                </c:pt>
                <c:pt idx="6">
                  <c:v>27.0</c:v>
                </c:pt>
                <c:pt idx="7">
                  <c:v>30.6</c:v>
                </c:pt>
                <c:pt idx="8">
                  <c:v>34.2</c:v>
                </c:pt>
                <c:pt idx="9">
                  <c:v>37.6</c:v>
                </c:pt>
                <c:pt idx="10">
                  <c:v>40.8</c:v>
                </c:pt>
                <c:pt idx="11">
                  <c:v>44.0</c:v>
                </c:pt>
                <c:pt idx="12">
                  <c:v>47.0</c:v>
                </c:pt>
                <c:pt idx="13">
                  <c:v>49.6</c:v>
                </c:pt>
                <c:pt idx="14">
                  <c:v>52.0</c:v>
                </c:pt>
                <c:pt idx="15">
                  <c:v>54.3</c:v>
                </c:pt>
                <c:pt idx="16">
                  <c:v>56.5</c:v>
                </c:pt>
                <c:pt idx="17">
                  <c:v>58.7</c:v>
                </c:pt>
                <c:pt idx="18">
                  <c:v>60.6</c:v>
                </c:pt>
                <c:pt idx="19">
                  <c:v>62.6</c:v>
                </c:pt>
                <c:pt idx="20">
                  <c:v>64.4</c:v>
                </c:pt>
                <c:pt idx="21">
                  <c:v>66.2</c:v>
                </c:pt>
                <c:pt idx="22">
                  <c:v>67.9</c:v>
                </c:pt>
                <c:pt idx="23">
                  <c:v>69.4</c:v>
                </c:pt>
                <c:pt idx="24">
                  <c:v>70.9</c:v>
                </c:pt>
                <c:pt idx="25">
                  <c:v>72.3</c:v>
                </c:pt>
                <c:pt idx="26">
                  <c:v>73.6</c:v>
                </c:pt>
                <c:pt idx="27">
                  <c:v>74.9</c:v>
                </c:pt>
                <c:pt idx="28">
                  <c:v>76.2</c:v>
                </c:pt>
                <c:pt idx="29">
                  <c:v>77.3</c:v>
                </c:pt>
                <c:pt idx="30">
                  <c:v>78.5</c:v>
                </c:pt>
                <c:pt idx="31">
                  <c:v>79.6</c:v>
                </c:pt>
                <c:pt idx="32">
                  <c:v>80.7</c:v>
                </c:pt>
                <c:pt idx="33">
                  <c:v>81.7</c:v>
                </c:pt>
                <c:pt idx="34">
                  <c:v>82.8</c:v>
                </c:pt>
                <c:pt idx="35">
                  <c:v>83.7</c:v>
                </c:pt>
                <c:pt idx="36">
                  <c:v>84.6</c:v>
                </c:pt>
                <c:pt idx="37">
                  <c:v>85.5</c:v>
                </c:pt>
                <c:pt idx="38">
                  <c:v>86.4</c:v>
                </c:pt>
                <c:pt idx="39">
                  <c:v>87.2</c:v>
                </c:pt>
                <c:pt idx="40">
                  <c:v>88.0</c:v>
                </c:pt>
                <c:pt idx="41">
                  <c:v>88.8</c:v>
                </c:pt>
                <c:pt idx="42">
                  <c:v>89.5</c:v>
                </c:pt>
                <c:pt idx="43">
                  <c:v>90.3</c:v>
                </c:pt>
                <c:pt idx="44">
                  <c:v>91.0</c:v>
                </c:pt>
                <c:pt idx="45">
                  <c:v>91.6</c:v>
                </c:pt>
                <c:pt idx="46">
                  <c:v>92.2</c:v>
                </c:pt>
                <c:pt idx="47">
                  <c:v>92.7</c:v>
                </c:pt>
                <c:pt idx="48">
                  <c:v>93.3</c:v>
                </c:pt>
                <c:pt idx="49">
                  <c:v>93.8</c:v>
                </c:pt>
                <c:pt idx="50">
                  <c:v>94.3</c:v>
                </c:pt>
                <c:pt idx="51">
                  <c:v>94.7</c:v>
                </c:pt>
                <c:pt idx="52">
                  <c:v>95.2</c:v>
                </c:pt>
                <c:pt idx="53">
                  <c:v>95.6</c:v>
                </c:pt>
                <c:pt idx="54">
                  <c:v>96.0</c:v>
                </c:pt>
                <c:pt idx="55">
                  <c:v>96.3</c:v>
                </c:pt>
                <c:pt idx="56">
                  <c:v>96.6</c:v>
                </c:pt>
                <c:pt idx="57">
                  <c:v>97.0</c:v>
                </c:pt>
                <c:pt idx="58">
                  <c:v>97.3</c:v>
                </c:pt>
                <c:pt idx="59">
                  <c:v>97.6</c:v>
                </c:pt>
                <c:pt idx="60">
                  <c:v>97.8</c:v>
                </c:pt>
                <c:pt idx="61">
                  <c:v>98.1</c:v>
                </c:pt>
                <c:pt idx="62">
                  <c:v>98.3</c:v>
                </c:pt>
                <c:pt idx="63">
                  <c:v>98.5</c:v>
                </c:pt>
                <c:pt idx="64">
                  <c:v>98.6</c:v>
                </c:pt>
                <c:pt idx="65">
                  <c:v>98.8</c:v>
                </c:pt>
                <c:pt idx="66">
                  <c:v>99.0</c:v>
                </c:pt>
                <c:pt idx="67">
                  <c:v>99.1</c:v>
                </c:pt>
                <c:pt idx="68">
                  <c:v>99.3</c:v>
                </c:pt>
                <c:pt idx="69">
                  <c:v>99.4</c:v>
                </c:pt>
                <c:pt idx="70">
                  <c:v>99.5</c:v>
                </c:pt>
                <c:pt idx="71">
                  <c:v>99.6</c:v>
                </c:pt>
                <c:pt idx="72">
                  <c:v>99.6</c:v>
                </c:pt>
                <c:pt idx="73">
                  <c:v>99.7</c:v>
                </c:pt>
                <c:pt idx="74">
                  <c:v>99.8</c:v>
                </c:pt>
                <c:pt idx="75">
                  <c:v>99.8</c:v>
                </c:pt>
                <c:pt idx="76">
                  <c:v>99.9</c:v>
                </c:pt>
                <c:pt idx="77">
                  <c:v>99.9</c:v>
                </c:pt>
                <c:pt idx="78">
                  <c:v>100.0</c:v>
                </c:pt>
                <c:pt idx="79">
                  <c:v>100.0</c:v>
                </c:pt>
                <c:pt idx="80">
                  <c:v>100.0</c:v>
                </c:pt>
                <c:pt idx="81">
                  <c:v>100.0</c:v>
                </c:pt>
                <c:pt idx="82">
                  <c:v>100.0</c:v>
                </c:pt>
                <c:pt idx="83">
                  <c:v>100.0</c:v>
                </c:pt>
                <c:pt idx="84">
                  <c:v>100.0</c:v>
                </c:pt>
                <c:pt idx="85">
                  <c:v>100.0</c:v>
                </c:pt>
                <c:pt idx="86">
                  <c:v>100.0</c:v>
                </c:pt>
                <c:pt idx="87">
                  <c:v>100.0</c:v>
                </c:pt>
                <c:pt idx="88">
                  <c:v>100.0</c:v>
                </c:pt>
                <c:pt idx="89">
                  <c:v>100.0</c:v>
                </c:pt>
                <c:pt idx="90">
                  <c:v>100.0</c:v>
                </c:pt>
                <c:pt idx="91">
                  <c:v>100.0</c:v>
                </c:pt>
                <c:pt idx="92">
                  <c:v>100.0</c:v>
                </c:pt>
                <c:pt idx="93">
                  <c:v>100.0</c:v>
                </c:pt>
                <c:pt idx="94">
                  <c:v>100.0</c:v>
                </c:pt>
                <c:pt idx="95">
                  <c:v>100.0</c:v>
                </c:pt>
                <c:pt idx="96">
                  <c:v>100.0</c:v>
                </c:pt>
                <c:pt idx="97">
                  <c:v>100.0</c:v>
                </c:pt>
                <c:pt idx="98">
                  <c:v>100.0</c:v>
                </c:pt>
                <c:pt idx="99">
                  <c:v>100.0</c:v>
                </c:pt>
                <c:pt idx="100">
                  <c:v>100.0</c:v>
                </c:pt>
                <c:pt idx="101">
                  <c:v>100.0</c:v>
                </c:pt>
                <c:pt idx="102">
                  <c:v>100.0</c:v>
                </c:pt>
                <c:pt idx="103">
                  <c:v>100.0</c:v>
                </c:pt>
                <c:pt idx="104">
                  <c:v>100.0</c:v>
                </c:pt>
                <c:pt idx="105">
                  <c:v>100.0</c:v>
                </c:pt>
                <c:pt idx="106">
                  <c:v>100.0</c:v>
                </c:pt>
                <c:pt idx="107">
                  <c:v>100.0</c:v>
                </c:pt>
                <c:pt idx="108">
                  <c:v>100.0</c:v>
                </c:pt>
                <c:pt idx="109">
                  <c:v>100.0</c:v>
                </c:pt>
                <c:pt idx="110">
                  <c:v>100.0</c:v>
                </c:pt>
                <c:pt idx="111">
                  <c:v>100.0</c:v>
                </c:pt>
                <c:pt idx="112">
                  <c:v>100.0</c:v>
                </c:pt>
                <c:pt idx="113">
                  <c:v>100.0</c:v>
                </c:pt>
                <c:pt idx="114">
                  <c:v>100.0</c:v>
                </c:pt>
                <c:pt idx="115">
                  <c:v>100.0</c:v>
                </c:pt>
                <c:pt idx="116">
                  <c:v>100.0</c:v>
                </c:pt>
                <c:pt idx="117">
                  <c:v>100.0</c:v>
                </c:pt>
                <c:pt idx="118">
                  <c:v>100.0</c:v>
                </c:pt>
                <c:pt idx="119">
                  <c:v>100.0</c:v>
                </c:pt>
                <c:pt idx="120">
                  <c:v>100.0</c:v>
                </c:pt>
                <c:pt idx="121">
                  <c:v>100.0</c:v>
                </c:pt>
                <c:pt idx="122">
                  <c:v>100.0</c:v>
                </c:pt>
                <c:pt idx="123">
                  <c:v>100.0</c:v>
                </c:pt>
                <c:pt idx="124">
                  <c:v>100.0</c:v>
                </c:pt>
                <c:pt idx="125">
                  <c:v>100.0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Sheet1!$B$129</c:f>
              <c:strCache>
                <c:ptCount val="1"/>
                <c:pt idx="0">
                  <c:v>Even spread</c:v>
                </c:pt>
              </c:strCache>
            </c:strRef>
          </c:tx>
          <c:spPr>
            <a:ln w="19050">
              <a:solidFill>
                <a:srgbClr val="9AAEB0"/>
              </a:solidFill>
            </a:ln>
          </c:spPr>
          <c:marker>
            <c:symbol val="none"/>
          </c:marker>
          <c:xVal>
            <c:numRef>
              <c:f>Sheet1!$A$130:$A$131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xVal>
          <c:yVal>
            <c:numRef>
              <c:f>Sheet1!$B$130:$B$131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Series ranked by lost revenue (% of 125)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8C8C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 w="9525">
              <a:solidFill>
                <a:srgbClr val="DDE6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Cumulative share of lost revenue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5E6E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EGP million</c:v>
                </c:pt>
              </c:strCache>
            </c:strRef>
          </c:tx>
          <c:spPr>
            <a:solidFill>
              <a:srgbClr val="1B998B"/>
            </a:solidFill>
          </c:spPr>
          <c:invertIfNegative val="0"/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F2A541"/>
              </a:solidFill>
            </c:spPr>
          </c:dPt>
          <c:dPt>
            <c:idx val="2"/>
            <c:spPr>
              <a:solidFill>
                <a:srgbClr val="1B998B"/>
              </a:solidFill>
            </c:spPr>
          </c:dPt>
          <c:dPt>
            <c:idx val="3"/>
            <c:spPr>
              <a:solidFill>
                <a:srgbClr val="E4572E"/>
              </a:solidFill>
            </c:spPr>
          </c:dPt>
          <c:dPt>
            <c:idx val="4"/>
            <c:spPr>
              <a:solidFill>
                <a:srgbClr val="E4572E"/>
              </a:solidFill>
            </c:spPr>
          </c:dPt>
          <c:dPt>
            <c:idx val="5"/>
            <c:spPr>
              <a:solidFill>
                <a:srgbClr val="1B998B"/>
              </a:solidFill>
            </c:spPr>
          </c:dPt>
          <c:cat>
            <c:strRef>
              <c:f>Sheet1!$A$2:$A$7</c:f>
              <c:strCache>
                <c:ptCount val="6"/>
                <c:pt idx="0">
                  <c:v>Revenue</c:v>
                </c:pt>
                <c:pt idx="1">
                  <c:v>Cost of goods</c:v>
                </c:pt>
                <c:pt idx="2">
                  <c:v>Gross profit</c:v>
                </c:pt>
                <c:pt idx="3">
                  <c:v>Holding</c:v>
                </c:pt>
                <c:pt idx="4">
                  <c:v>Expiry</c:v>
                </c:pt>
                <c:pt idx="5">
                  <c:v>Contribution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97.14</c:v>
                </c:pt>
                <c:pt idx="1">
                  <c:v>64.17</c:v>
                </c:pt>
                <c:pt idx="2">
                  <c:v>32.97</c:v>
                </c:pt>
                <c:pt idx="3">
                  <c:v>0.49</c:v>
                </c:pt>
                <c:pt idx="4">
                  <c:v>0.31</c:v>
                </c:pt>
                <c:pt idx="5">
                  <c:v>32.17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626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8C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DDE6E5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E6E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Verdict figures: fill rate and stockout share from stage1_3.json kpis; 97.6% from under_vs_over; 47.0% from concentration.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slide. 97.6% = under_vs_over.lost_units_share_in_under_rows (stage1_3.json). 47.0% = concentration.top10pct_series_lostrev_share. 9.19% vs 14.59% = results.json model.test (held-out 500 rows).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0 intake. Counts from stage1_3.json (rows, cols, n_products, n_regions, n_months). Path A-P in the playbook v4.0, Section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and the 'do columns mean what they say' check. Aliases from results.json aliases; snapshot figures from stage1_3.json kpis.closing_value_wrongly_summed and closing_value_latest.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Region stockout shares from stage1_3.json segments.region_name; regional gap test T1 (chi-square p&lt;0.0001) in results.json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T6 in results.json register (chi-square 2x2, p=2e-67). Rates and 97.6% from stage1_3.json under_vs_over.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Promotion figures from results.json promotion block and register T5a-c (permutation within series, p=0.0002 each). Bias -14.0% vs +2.0%; stockouts 12.85% vs 5.04%.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results.json model.test and model.by_region: log-demand ridge, chronological split 4000/500/500, alpha chosen on validation, tested on Jan-Apr 2026. Paired bootstrap 4000 resamples CI. Publication quotes 9.07%; we measure 9.19%.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Concentration from stage1_3.json (top10pct_series_lostrev_share, series_with_zero_stockouts). Stability from results.json stability (Spearman 0.55; 5 of the top 12 recur vs 1.2 by chance).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Financials from stage1_3.json kpis. Contribution = gross profit - holding - expiry; not net enterprise profit. Closing value is April 2026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results.json register. Bonferroni threshold 0.05/18 = 0.0028. T14 (Benford) documents that the file is synthetic; it is not counted as real or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Dashboard: 03_Dashboard/, six pages, one watcher, one live_data.json. Refresh measured by editing the source CSV: median 526 ms to the snapshot, pages poll every 0.5 s. Run: cd 03_Dashboard; python watcher.py; python -m http.server 8000.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as in the report page 10. Power figures from results.json power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Limits from the publication scope and the analysis. Power table: results.json power.table; current file 1,000 rows per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E0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E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DEMAND FORECASTING AND INVENTORY DECISIONS  ·  DATA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Service is high.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The shortages are not random.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FE3E0"/>
                </a:solidFill>
                <a:latin typeface="Calibri"/>
              </a:rPr>
              <a:t>A pharmaceutical distributor's 5,000-row demand panel: 25 products, 5 regions, 40 months. 99.18% fill rate, yet 97.6% of lost packs follow an under-forecast.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FE3E0"/>
                </a:solidFill>
                <a:latin typeface="Calibri"/>
              </a:rPr>
              <a:t>Team 2 · Group 9230 · Data Analytics for AI Business · AASTMT Graduate School of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Review forecasts first: the shortages sit where the forecast misses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6262B"/>
                </a:solidFill>
                <a:latin typeface="Calibri"/>
              </a:rPr>
              <a:t>Fill rate looks healthy at 99.18%, but 6.44% of product-months run out of stock. The losses cluster in a way a planner can act on, so the next unit of effort belongs in forecasting, not in more safety stock.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E4572E"/>
                </a:solidFill>
                <a:latin typeface="Cambria"/>
              </a:rPr>
              <a:t>97.6%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01260"/>
            <a:ext cx="310896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of lost packs fall in months the baseline under-forecast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06324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324612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E4572E"/>
                </a:solidFill>
                <a:latin typeface="Cambria"/>
              </a:rPr>
              <a:t>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601260"/>
            <a:ext cx="310896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of lost revenue sits in 12 of 125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306324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324612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998B"/>
                </a:solidFill>
                <a:latin typeface="Cambria"/>
              </a:rPr>
              <a:t>9.19% vs 14.59%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4601260"/>
            <a:ext cx="310896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held-out forecast error: regression against the 3-month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E6E72"/>
                </a:solidFill>
                <a:latin typeface="Calibri"/>
              </a:rPr>
              <a:t>Association, not proof of cause. The regression result is a one-month-ahead test; it does not yet show lower stockouts or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One flat panel: a product, in a region, in a month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2606040" cy="982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0B3C49"/>
                </a:solidFill>
                <a:latin typeface="Cambria"/>
              </a:rPr>
              <a:t>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1896"/>
            <a:ext cx="26060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rows: one per product, region and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59" y="169164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1874520"/>
            <a:ext cx="2606040" cy="982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0B3C49"/>
                </a:solidFill>
                <a:latin typeface="Cambria"/>
              </a:rPr>
              <a:t>25 ×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31896"/>
            <a:ext cx="26060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products × regional warehouses = 125 series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2606040" cy="982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0B3C49"/>
                </a:solidFill>
                <a:latin typeface="Cambria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0736"/>
            <a:ext cx="26060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months, January 2023 to April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59" y="384048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59" y="4023360"/>
            <a:ext cx="2606040" cy="982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0B3C49"/>
                </a:solidFill>
                <a:latin typeface="Cambria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4980736"/>
            <a:ext cx="26060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columns: 18 descriptors, 30 inputs and outcomes, 12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691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3C49"/>
                </a:solidFill>
                <a:latin typeface="Cambria"/>
              </a:rPr>
              <a:t>What the file lets us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2402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3C49"/>
                </a:solidFill>
                <a:latin typeface="Calibri"/>
              </a:rPr>
              <a:t>Separate demand from sales. </a:t>
            </a:r>
            <a:r>
              <a:rPr sz="1500" b="0" i="0">
                <a:solidFill>
                  <a:srgbClr val="16262B"/>
                </a:solidFill>
                <a:latin typeface="Calibri"/>
              </a:rPr>
              <a:t>Requested packs are kept even when stock ran 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31546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3C49"/>
                </a:solidFill>
                <a:latin typeface="Calibri"/>
              </a:rPr>
              <a:t>Test a forecast. </a:t>
            </a:r>
            <a:r>
              <a:rPr sz="1500" b="0" i="0">
                <a:solidFill>
                  <a:srgbClr val="16262B"/>
                </a:solidFill>
                <a:latin typeface="Calibri"/>
              </a:rPr>
              <a:t>A baseline forecast sits beside the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40690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3C49"/>
                </a:solidFill>
                <a:latin typeface="Calibri"/>
              </a:rPr>
              <a:t>Follow money. </a:t>
            </a:r>
            <a:r>
              <a:rPr sz="1500" b="0" i="0">
                <a:solidFill>
                  <a:srgbClr val="16262B"/>
                </a:solidFill>
                <a:latin typeface="Calibri"/>
              </a:rPr>
              <a:t>Revenue, cost, holding, expiry, lost revenue.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49834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3C49"/>
                </a:solidFill>
                <a:latin typeface="Calibri"/>
              </a:rPr>
              <a:t>Limit: </a:t>
            </a:r>
            <a:r>
              <a:rPr sz="1500" b="0" i="0">
                <a:solidFill>
                  <a:srgbClr val="16262B"/>
                </a:solidFill>
                <a:latin typeface="Calibri"/>
              </a:rPr>
              <a:t>Synthetic. It describes this simulation, not the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The file is clean, but three traps hide in the column names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1B998B"/>
                </a:solidFill>
                <a:latin typeface="Cambria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52344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cleaning checks pass, 0 missing cells, 0 duplicates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1B998B"/>
                </a:solidFill>
                <a:latin typeface="Cambria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9744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accounting identities hold on all 5,000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691640"/>
            <a:ext cx="7498079" cy="118872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47088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572E"/>
                </a:solidFill>
                <a:latin typeface="Calibri"/>
              </a:rPr>
              <a:t>Aliased columns. </a:t>
            </a:r>
            <a:r>
              <a:rPr sz="1600" b="0" i="0">
                <a:solidFill>
                  <a:srgbClr val="16262B"/>
                </a:solidFill>
                <a:latin typeface="Calibri"/>
              </a:rPr>
              <a:t>Supplier, dosage form and product family are one grouping. Channel equals customer segment. Cold storage is Family 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017520"/>
            <a:ext cx="7498079" cy="118872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172968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572E"/>
                </a:solidFill>
                <a:latin typeface="Calibri"/>
              </a:rPr>
              <a:t>A stock is a snapshot. </a:t>
            </a:r>
            <a:r>
              <a:rPr sz="1600" b="0" i="0">
                <a:solidFill>
                  <a:srgbClr val="16262B"/>
                </a:solidFill>
                <a:latin typeface="Calibri"/>
              </a:rPr>
              <a:t>Summing inventory value over 40 months gives EGP 32.90M; April 2026 stock is EGP 939k.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343400"/>
            <a:ext cx="7498079" cy="118872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498848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4572E"/>
                </a:solidFill>
                <a:latin typeface="Calibri"/>
              </a:rPr>
              <a:t>A ratio is a sum over a sum. </a:t>
            </a:r>
            <a:r>
              <a:rPr sz="1600" b="0" i="0">
                <a:solidFill>
                  <a:srgbClr val="16262B"/>
                </a:solidFill>
                <a:latin typeface="Calibri"/>
              </a:rPr>
              <a:t>Fill rate, WAPE and margin are computed from totals, never from averaged percentages.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Fill rate is high; shortages are local to two regions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Stockout share by region"/>
          <p:cNvGraphicFramePr>
            <a:graphicFrameLocks noGrp="1"/>
          </p:cNvGraphicFramePr>
          <p:nvPr/>
        </p:nvGraphicFramePr>
        <p:xfrm>
          <a:off x="548640" y="1645920"/>
          <a:ext cx="67665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1417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E72"/>
                </a:solidFill>
                <a:latin typeface="Calibri"/>
              </a:rPr>
              <a:t>Product-months with a stockout, by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4592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828800"/>
            <a:ext cx="3474720" cy="708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0B3C49"/>
                </a:solidFill>
                <a:latin typeface="Cambria"/>
              </a:rPr>
              <a:t>99.18%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67965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weighted fill rate overall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4612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429000"/>
            <a:ext cx="3474720" cy="708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E4572E"/>
                </a:solidFill>
                <a:latin typeface="Cambria"/>
              </a:rPr>
              <a:t>6.44%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068165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of product-months stock out (322 of 5,000)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9204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6262B"/>
                </a:solidFill>
                <a:latin typeface="Calibri"/>
              </a:rPr>
              <a:t>North and Central stock out most. West, the largest region, stocks out least (3.9%). The gap is real (p &lt; 0.0001).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Shortages happen in months the forecast was too low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Stockout rate by forecast direction"/>
          <p:cNvGraphicFramePr>
            <a:graphicFrameLocks noGrp="1"/>
          </p:cNvGraphicFramePr>
          <p:nvPr/>
        </p:nvGraphicFramePr>
        <p:xfrm>
          <a:off x="548640" y="1645920"/>
          <a:ext cx="58521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1417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E72"/>
                </a:solidFill>
                <a:latin typeface="Calibri"/>
              </a:rPr>
              <a:t>Stockout rate, % of product-months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0" y="1737360"/>
          <a:ext cx="292608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9260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E4572E"/>
                </a:solidFill>
                <a:latin typeface="Cambria"/>
              </a:rPr>
              <a:t>97.6%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7548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6262B"/>
                </a:solidFill>
                <a:latin typeface="Calibri"/>
              </a:rPr>
              <a:t>of lost packs fall in months the three-month average under-forecast.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53212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E6E72"/>
                </a:solidFill>
                <a:latin typeface="Calibri"/>
              </a:rPr>
              <a:t>Caveat: a demand spike causes both the miss and the shortage. Series that are biased on average are not the ones that stock out (r = -0.12).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Planned promotions are where the baseline fails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Promotion effect"/>
          <p:cNvGraphicFramePr>
            <a:graphicFrameLocks noGrp="1"/>
          </p:cNvGraphicFramePr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6459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82880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E4572E"/>
                </a:solidFill>
                <a:latin typeface="Cambria"/>
              </a:rPr>
              <a:t>-14.0%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547518"/>
            <a:ext cx="3291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baseline bias in promoted months (+2.0% otherwise)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38328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356616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0B3C49"/>
                </a:solidFill>
                <a:latin typeface="Cambria"/>
              </a:rPr>
              <a:t>12.8% vs 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284878"/>
            <a:ext cx="32918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stockout rate, promoted vs other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16636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6262B"/>
                </a:solidFill>
                <a:latin typeface="Calibri"/>
              </a:rPr>
              <a:t>Promotions are 20.4% of volume and 41% of lost revenue. The promotion is known before the month starts; the baseline ignores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A forecast that uses what is known in advance cuts error by a third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Held-out WAPE by region"/>
          <p:cNvGraphicFramePr>
            <a:graphicFrameLocks noGrp="1"/>
          </p:cNvGraphicFramePr>
          <p:nvPr/>
        </p:nvGraphicFramePr>
        <p:xfrm>
          <a:off x="548640" y="1645920"/>
          <a:ext cx="713232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459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828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998B"/>
                </a:solidFill>
                <a:latin typeface="Cambria"/>
              </a:rPr>
              <a:t>9.19%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494483"/>
            <a:ext cx="3108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regression WAPE on 500 unseen rows (baseline 14.59%)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4612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429000"/>
            <a:ext cx="3108960" cy="6172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B3C49"/>
                </a:solidFill>
                <a:latin typeface="Cambria"/>
              </a:rPr>
              <a:t>37.0% 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962095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95% interval 31.9% to 41.5%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6344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E6E72"/>
                </a:solidFill>
                <a:latin typeface="Calibri"/>
              </a:rPr>
              <a:t>One month ahead, four test months. It does not show fewer stockouts or lower cost: that needs a replenishment simulation. The publication's own figure is 9.07%.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Lost revenue is concentrated: 12 series hold 47%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Cumulative lost revenue"/>
          <p:cNvGraphicFramePr>
            <a:graphicFrameLocks noGrp="1"/>
          </p:cNvGraphicFramePr>
          <p:nvPr/>
        </p:nvGraphicFramePr>
        <p:xfrm>
          <a:off x="548640" y="1691640"/>
          <a:ext cx="630936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691640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87452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E4572E"/>
                </a:solidFill>
                <a:latin typeface="Cambria"/>
              </a:rPr>
              <a:t>47%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48716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of lost revenue in the top 12 of 125 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246120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4290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998B"/>
                </a:solidFill>
                <a:latin typeface="Cambria"/>
              </a:rPr>
              <a:t>5 of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04164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recur across both halves of history (chance: 1.2)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846320"/>
            <a:ext cx="4389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6262B"/>
                </a:solidFill>
                <a:latin typeface="Calibri"/>
              </a:rPr>
              <a:t>46 series never ran out. Use the list as a review order, refreshed each quarter. Rank correlation between halves: 0.55.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Stock costs are small, and unserved demand costs about the same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Revenue to contribution (EGP million)"/>
          <p:cNvGraphicFramePr>
            <a:graphicFrameLocks noGrp="1"/>
          </p:cNvGraphicFramePr>
          <p:nvPr/>
        </p:nvGraphicFramePr>
        <p:xfrm>
          <a:off x="548640" y="1645920"/>
          <a:ext cx="67665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1417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E72"/>
                </a:solidFill>
                <a:latin typeface="Calibri"/>
              </a:rPr>
              <a:t>EGP million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459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82880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0B3C49"/>
                </a:solidFill>
                <a:latin typeface="Cambria"/>
              </a:rPr>
              <a:t>33.9%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4144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gross margin on EGP 97.14M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004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38328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E4572E"/>
                </a:solidFill>
                <a:latin typeface="Cambria"/>
              </a:rPr>
              <a:t>800k vs 788k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99592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E6E72"/>
                </a:solidFill>
                <a:latin typeface="Calibri"/>
              </a:rPr>
              <a:t>EGP: holding plus expiry, against lost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060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6262B"/>
                </a:solidFill>
                <a:latin typeface="Calibri"/>
              </a:rPr>
              <a:t>April 2026 stock is EGP 939k, about 15.5 days of demand. Contribution excludes staffing, transport, financing and tax.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We tested 18 claims: 12 are real, and the rest are listed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6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998B"/>
                </a:solidFill>
                <a:latin typeface="Cambria"/>
              </a:rPr>
              <a:t>Survived correction (12)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017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Regional stockout frequency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Regional fill rate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Regional volume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Promotion raises stockouts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Promotion raises forecast error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Baseline under-forecasts promotions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31720"/>
            <a:ext cx="31546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Under-forecast months hold the shortages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Series differ in shortages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Seasonality in demand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Products differ in scale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Regression beats baseline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Priority list recurs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4114800" cy="4526280"/>
          </a:xfrm>
          <a:prstGeom prst="roundRect">
            <a:avLst>
              <a:gd name="adj" fmla="val 6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8A5A00"/>
                </a:solidFill>
                <a:latin typeface="Cambria"/>
              </a:rPr>
              <a:t>Not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240280"/>
            <a:ext cx="36576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Regional forecast error: noise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Family, supplier, dosage form: noise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Channel and segment: noise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Criticality class: suggestive only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Demand trend: suggestive only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6262B"/>
                </a:solidFill>
                <a:latin typeface="Calibri"/>
              </a:rPr>
              <a:t>Revenue digits fail Benford: the file is synthetic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The live dashboard lets the planner explore every figure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94944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3C49"/>
                </a:solidFill>
                <a:latin typeface="Calibri"/>
              </a:rPr>
              <a:t>Six pages. </a:t>
            </a:r>
            <a:r>
              <a:rPr sz="1400" b="0" i="0">
                <a:solidFill>
                  <a:srgbClr val="16262B"/>
                </a:solidFill>
                <a:latin typeface="Calibri"/>
              </a:rPr>
              <a:t>Overview, cross-filtered dashboard, forecast, service and stock, commercial, data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3C49"/>
                </a:solidFill>
                <a:latin typeface="Calibri"/>
              </a:rPr>
              <a:t>Click to filter. </a:t>
            </a:r>
            <a:r>
              <a:rPr sz="1400" b="0" i="0">
                <a:solidFill>
                  <a:srgbClr val="16262B"/>
                </a:solidFill>
                <a:latin typeface="Calibri"/>
              </a:rPr>
              <a:t>Any bar, slice, cell or point re-filters every visual.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84048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3C49"/>
                </a:solidFill>
                <a:latin typeface="Calibri"/>
              </a:rPr>
              <a:t>Live. </a:t>
            </a:r>
            <a:r>
              <a:rPr sz="1400" b="0" i="0">
                <a:solidFill>
                  <a:srgbClr val="16262B"/>
                </a:solidFill>
                <a:latin typeface="Calibri"/>
              </a:rPr>
              <a:t>Edit the CSV and the screen updates in under a second on average.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937759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3C49"/>
                </a:solidFill>
                <a:latin typeface="Calibri"/>
              </a:rPr>
              <a:t>Honest. </a:t>
            </a:r>
            <a:r>
              <a:rPr sz="1400" b="0" i="0">
                <a:solidFill>
                  <a:srgbClr val="16262B"/>
                </a:solidFill>
                <a:latin typeface="Calibri"/>
              </a:rPr>
              <a:t>Every page carries the caveat and tags what is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3C49"/>
                </a:solidFill>
                <a:latin typeface="Cambria"/>
              </a:rPr>
              <a:t>Six recommendations, each tied to a measure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E72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E72"/>
                </a:solidFill>
                <a:latin typeface="Calibri"/>
              </a:rP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64208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645920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C49"/>
                </a:solidFill>
                <a:latin typeface="Calibri"/>
              </a:rPr>
              <a:t>Make the baseline promotion-aware. </a:t>
            </a:r>
            <a:r>
              <a:rPr sz="1800" b="0" i="0">
                <a:solidFill>
                  <a:srgbClr val="16262B"/>
                </a:solidFill>
                <a:latin typeface="Calibri"/>
              </a:rPr>
              <a:t>Bias is -14.0% in promoted months. Track promoted-month WAPE and bias.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14016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395728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C49"/>
                </a:solidFill>
                <a:latin typeface="Calibri"/>
              </a:rPr>
              <a:t>Start review with the 12 highest-loss series. </a:t>
            </a:r>
            <a:r>
              <a:rPr sz="1800" b="0" i="0">
                <a:solidFill>
                  <a:srgbClr val="16262B"/>
                </a:solidFill>
                <a:latin typeface="Calibri"/>
              </a:rPr>
              <a:t>47% of lost revenue; refresh quarterly, as only 5 of 12 recur.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63824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145536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C49"/>
                </a:solidFill>
                <a:latin typeface="Calibri"/>
              </a:rPr>
              <a:t>Diagnose service in North and Central. </a:t>
            </a:r>
            <a:r>
              <a:rPr sz="1800" b="0" i="0">
                <a:solidFill>
                  <a:srgbClr val="16262B"/>
                </a:solidFill>
                <a:latin typeface="Calibri"/>
              </a:rPr>
              <a:t>Stockouts 9.4% and 8.5% against 3.9% in West.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3631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895344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C49"/>
                </a:solidFill>
                <a:latin typeface="Calibri"/>
              </a:rPr>
              <a:t>Pilot the regression as a challenger, then simulate the policy. </a:t>
            </a:r>
            <a:r>
              <a:rPr sz="1800" b="0" i="0">
                <a:solidFill>
                  <a:srgbClr val="16262B"/>
                </a:solidFill>
                <a:latin typeface="Calibri"/>
              </a:rPr>
              <a:t>Held-out WAPE 9.2% against 14.6%; service and cost benefit are still unproven.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63440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645152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C49"/>
                </a:solidFill>
                <a:latin typeface="Calibri"/>
              </a:rPr>
              <a:t>Standardise the definitions. </a:t>
            </a:r>
            <a:r>
              <a:rPr sz="1800" b="0" i="0">
                <a:solidFill>
                  <a:srgbClr val="16262B"/>
                </a:solidFill>
                <a:latin typeface="Calibri"/>
              </a:rPr>
              <a:t>Ratios as sums over sums, inventory at one month end, family equals supplier equals dosage form.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3247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394959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C49"/>
                </a:solidFill>
                <a:latin typeface="Calibri"/>
              </a:rPr>
              <a:t>Ask for more data. </a:t>
            </a:r>
            <a:r>
              <a:rPr sz="1800" b="0" i="0">
                <a:solidFill>
                  <a:srgbClr val="16262B"/>
                </a:solidFill>
                <a:latin typeface="Calibri"/>
              </a:rPr>
              <a:t>About 4,000 rows per region to settle a 25% gap; add stockout cost, backorders and batch shelf life.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What this file cannot show, and what to collect next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E0"/>
                </a:solidFill>
                <a:latin typeface="Calibri"/>
              </a:rPr>
              <a:t>Team 2 · Pharma demand panel · synthetic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698480" y="643737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E0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A541"/>
                </a:solidFill>
                <a:latin typeface="Cambria"/>
              </a:rPr>
              <a:t>Cannot be concluded from this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new ordering policy lowers stockouts or cost: needs a simulation.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Accuracy several months ahead from a fixed origin.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Anything about real pharmaceutical demand or patient need.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Net enterprise profit: staffing, transport, tax not modelled.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Why stock expired: no batch or shelf-life data.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Backorders: unserved demand is lost, not carried.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A541"/>
                </a:solidFill>
                <a:latin typeface="Cambria"/>
              </a:rPr>
              <a:t>How much data would settle a regional 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28600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Region runs</a:t>
                      </a:r>
                    </a:p>
                  </a:txBody>
                  <a:tcPr>
                    <a:solidFill>
                      <a:srgbClr val="14566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14566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14566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>
                    <a:solidFill>
                      <a:srgbClr val="14566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25% above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50% above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100% above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0F475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48920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FE3E0"/>
                </a:solidFill>
                <a:latin typeface="Calibri"/>
              </a:rPr>
              <a:t>Share of simulated datasets in which a five-region test flagged the region (80% is the usual target). The file has 1,000 rows per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7607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Next: pilot the promotion-aware forecast and simulate the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is high. The shortages are not random.</dc:title>
  <dc:subject/>
  <dc:creator>Team 2, Group 9230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